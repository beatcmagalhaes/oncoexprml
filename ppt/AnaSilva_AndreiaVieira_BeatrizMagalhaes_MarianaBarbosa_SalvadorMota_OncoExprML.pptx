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028700"/>
            <a:ext cx="8376183" cy="8229600"/>
          </a:xfrm>
          <a:custGeom>
            <a:avLst/>
            <a:gdLst/>
            <a:ahLst/>
            <a:cxnLst/>
            <a:rect r="r" b="b" t="t" l="l"/>
            <a:pathLst>
              <a:path h="8229600" w="8376183">
                <a:moveTo>
                  <a:pt x="0" y="0"/>
                </a:moveTo>
                <a:lnTo>
                  <a:pt x="8376183" y="0"/>
                </a:lnTo>
                <a:lnTo>
                  <a:pt x="83761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3642" y="3160860"/>
            <a:ext cx="5729688" cy="116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9"/>
              </a:lnSpc>
              <a:spcBef>
                <a:spcPct val="0"/>
              </a:spcBef>
            </a:pPr>
            <a:r>
              <a:rPr lang="en-US" sz="64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OncoExprML: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642" y="4454005"/>
            <a:ext cx="7520486" cy="241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  <a:spcBef>
                <a:spcPct val="0"/>
              </a:spcBef>
            </a:pPr>
            <a:r>
              <a:rPr lang="en-US" sz="45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de Perfis RNA-Seq Tumorais com Machine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5534" y="2434260"/>
            <a:ext cx="6090445" cy="61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Mestrado em Bioestatística e Bioinformática Aplicadas à Saúde - Complementos de Bioinformática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642" y="7128926"/>
            <a:ext cx="8589514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 Silva, Andreia Vieira, Beatriz Magalhães, Mariana Barbosa, Salvador Mota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3642" y="2437344"/>
            <a:ext cx="778226" cy="654500"/>
          </a:xfrm>
          <a:custGeom>
            <a:avLst/>
            <a:gdLst/>
            <a:ahLst/>
            <a:cxnLst/>
            <a:rect r="r" b="b" t="t" l="l"/>
            <a:pathLst>
              <a:path h="654500" w="778226">
                <a:moveTo>
                  <a:pt x="0" y="0"/>
                </a:moveTo>
                <a:lnTo>
                  <a:pt x="778226" y="0"/>
                </a:lnTo>
                <a:lnTo>
                  <a:pt x="778226" y="654500"/>
                </a:lnTo>
                <a:lnTo>
                  <a:pt x="0" y="65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7544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7925" y="499249"/>
            <a:ext cx="9288502" cy="9288502"/>
          </a:xfrm>
          <a:custGeom>
            <a:avLst/>
            <a:gdLst/>
            <a:ahLst/>
            <a:cxnLst/>
            <a:rect r="r" b="b" t="t" l="l"/>
            <a:pathLst>
              <a:path h="9288502" w="9288502">
                <a:moveTo>
                  <a:pt x="0" y="0"/>
                </a:moveTo>
                <a:lnTo>
                  <a:pt x="9288502" y="0"/>
                </a:lnTo>
                <a:lnTo>
                  <a:pt x="9288502" y="9288502"/>
                </a:lnTo>
                <a:lnTo>
                  <a:pt x="0" y="928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72829" y="3319074"/>
            <a:ext cx="8795252" cy="1149659"/>
            <a:chOff x="0" y="0"/>
            <a:chExt cx="11727002" cy="15328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727" cy="571727"/>
            </a:xfrm>
            <a:custGeom>
              <a:avLst/>
              <a:gdLst/>
              <a:ahLst/>
              <a:cxnLst/>
              <a:rect r="r" b="b" t="t" l="l"/>
              <a:pathLst>
                <a:path h="571727" w="571727">
                  <a:moveTo>
                    <a:pt x="0" y="0"/>
                  </a:moveTo>
                  <a:lnTo>
                    <a:pt x="571727" y="0"/>
                  </a:lnTo>
                  <a:lnTo>
                    <a:pt x="571727" y="571727"/>
                  </a:lnTo>
                  <a:lnTo>
                    <a:pt x="0" y="571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72556" y="22002"/>
              <a:ext cx="6759301" cy="470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8"/>
                </a:lnSpc>
                <a:spcBef>
                  <a:spcPct val="0"/>
                </a:spcBef>
              </a:pPr>
              <a:r>
                <a:rPr lang="en-US" b="true" sz="20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Cancro e heterogeneidade molecular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72556" y="731362"/>
              <a:ext cx="10954446" cy="80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38"/>
                </a:lnSpc>
                <a:spcBef>
                  <a:spcPct val="0"/>
                </a:spcBef>
              </a:pPr>
              <a:r>
                <a:rPr lang="en-US" sz="174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Tumores do mesmo tipo clínico podem apresentar perfis moleculares diferentes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2829" y="4697015"/>
            <a:ext cx="8795252" cy="844832"/>
            <a:chOff x="0" y="0"/>
            <a:chExt cx="11727002" cy="1126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727" cy="571727"/>
            </a:xfrm>
            <a:custGeom>
              <a:avLst/>
              <a:gdLst/>
              <a:ahLst/>
              <a:cxnLst/>
              <a:rect r="r" b="b" t="t" l="l"/>
              <a:pathLst>
                <a:path h="571727" w="571727">
                  <a:moveTo>
                    <a:pt x="0" y="0"/>
                  </a:moveTo>
                  <a:lnTo>
                    <a:pt x="571727" y="0"/>
                  </a:lnTo>
                  <a:lnTo>
                    <a:pt x="571727" y="571727"/>
                  </a:lnTo>
                  <a:lnTo>
                    <a:pt x="0" y="571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772556" y="22002"/>
              <a:ext cx="6759301" cy="470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8"/>
                </a:lnSpc>
                <a:spcBef>
                  <a:spcPct val="0"/>
                </a:spcBef>
              </a:pPr>
              <a:r>
                <a:rPr lang="en-US" b="true" sz="20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RNA-Seq como ferramenta de análise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72556" y="731362"/>
              <a:ext cx="10954446" cy="395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38"/>
                </a:lnSpc>
                <a:spcBef>
                  <a:spcPct val="0"/>
                </a:spcBef>
              </a:pPr>
              <a:r>
                <a:rPr lang="en-US" sz="174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Permite quantificar níveis de expressão génica em larga escala.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2829" y="5779813"/>
            <a:ext cx="8795252" cy="1149659"/>
            <a:chOff x="0" y="0"/>
            <a:chExt cx="11727002" cy="15328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727" cy="571727"/>
            </a:xfrm>
            <a:custGeom>
              <a:avLst/>
              <a:gdLst/>
              <a:ahLst/>
              <a:cxnLst/>
              <a:rect r="r" b="b" t="t" l="l"/>
              <a:pathLst>
                <a:path h="571727" w="571727">
                  <a:moveTo>
                    <a:pt x="0" y="0"/>
                  </a:moveTo>
                  <a:lnTo>
                    <a:pt x="571727" y="0"/>
                  </a:lnTo>
                  <a:lnTo>
                    <a:pt x="571727" y="571727"/>
                  </a:lnTo>
                  <a:lnTo>
                    <a:pt x="0" y="571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772556" y="22002"/>
              <a:ext cx="5710515" cy="470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8"/>
                </a:lnSpc>
                <a:spcBef>
                  <a:spcPct val="0"/>
                </a:spcBef>
              </a:pPr>
              <a:r>
                <a:rPr lang="en-US" b="true" sz="20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Desafio dos dados de expressão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72556" y="731362"/>
              <a:ext cx="10954446" cy="80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38"/>
                </a:lnSpc>
                <a:spcBef>
                  <a:spcPct val="0"/>
                </a:spcBef>
              </a:pPr>
              <a:r>
                <a:rPr lang="en-US" sz="174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 matrizes RNA-Seq têm milhares de features e relativamente poucas amostras.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2829" y="7167438"/>
            <a:ext cx="8795252" cy="1149659"/>
            <a:chOff x="0" y="0"/>
            <a:chExt cx="11727002" cy="15328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727" cy="571727"/>
            </a:xfrm>
            <a:custGeom>
              <a:avLst/>
              <a:gdLst/>
              <a:ahLst/>
              <a:cxnLst/>
              <a:rect r="r" b="b" t="t" l="l"/>
              <a:pathLst>
                <a:path h="571727" w="571727">
                  <a:moveTo>
                    <a:pt x="0" y="0"/>
                  </a:moveTo>
                  <a:lnTo>
                    <a:pt x="571727" y="0"/>
                  </a:lnTo>
                  <a:lnTo>
                    <a:pt x="571727" y="571727"/>
                  </a:lnTo>
                  <a:lnTo>
                    <a:pt x="0" y="571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72556" y="22002"/>
              <a:ext cx="6136584" cy="470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8"/>
                </a:lnSpc>
                <a:spcBef>
                  <a:spcPct val="0"/>
                </a:spcBef>
              </a:pPr>
              <a:r>
                <a:rPr lang="en-US" b="true" sz="204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Necessidade de Machine Learning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72556" y="731362"/>
              <a:ext cx="10954446" cy="80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38"/>
                </a:lnSpc>
                <a:spcBef>
                  <a:spcPct val="0"/>
                </a:spcBef>
              </a:pPr>
              <a:r>
                <a:rPr lang="en-US" sz="174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Métodos computacionais ajudam a explorar padrões e a distinguir tipos tumorais.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2829" y="1906224"/>
            <a:ext cx="3885375" cy="99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64910" y="1975163"/>
            <a:ext cx="3885375" cy="89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  <a:spcBef>
                <a:spcPct val="0"/>
              </a:spcBef>
            </a:pPr>
            <a:r>
              <a:rPr lang="en-US" sz="49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Problema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40890" y="5369126"/>
            <a:ext cx="696340" cy="697212"/>
          </a:xfrm>
          <a:custGeom>
            <a:avLst/>
            <a:gdLst/>
            <a:ahLst/>
            <a:cxnLst/>
            <a:rect r="r" b="b" t="t" l="l"/>
            <a:pathLst>
              <a:path h="697212" w="696340">
                <a:moveTo>
                  <a:pt x="0" y="0"/>
                </a:moveTo>
                <a:lnTo>
                  <a:pt x="696340" y="0"/>
                </a:lnTo>
                <a:lnTo>
                  <a:pt x="696340" y="697212"/>
                </a:lnTo>
                <a:lnTo>
                  <a:pt x="0" y="697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40890" y="2124947"/>
            <a:ext cx="4580351" cy="116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8"/>
              </a:lnSpc>
              <a:spcBef>
                <a:spcPct val="0"/>
              </a:spcBef>
            </a:pPr>
            <a:r>
              <a:rPr lang="en-US" sz="648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40890" y="2982241"/>
            <a:ext cx="5068695" cy="116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8"/>
              </a:lnSpc>
              <a:spcBef>
                <a:spcPct val="0"/>
              </a:spcBef>
            </a:pPr>
            <a:r>
              <a:rPr lang="en-US" sz="64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 trabalho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028700" y="547159"/>
            <a:ext cx="8818085" cy="8818085"/>
          </a:xfrm>
          <a:custGeom>
            <a:avLst/>
            <a:gdLst/>
            <a:ahLst/>
            <a:cxnLst/>
            <a:rect r="r" b="b" t="t" l="l"/>
            <a:pathLst>
              <a:path h="8818085" w="8818085">
                <a:moveTo>
                  <a:pt x="8818085" y="0"/>
                </a:moveTo>
                <a:lnTo>
                  <a:pt x="0" y="0"/>
                </a:lnTo>
                <a:lnTo>
                  <a:pt x="0" y="8818085"/>
                </a:lnTo>
                <a:lnTo>
                  <a:pt x="8818085" y="8818085"/>
                </a:lnTo>
                <a:lnTo>
                  <a:pt x="881808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69067" y="5311976"/>
            <a:ext cx="6025185" cy="195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Avaliar se os perfis RNA-Seq permitem identificar estrutura natural e classificar amostras tumorais através de clustering não supervisionado e modelos supervisionados, de um modo reprodutível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69067" y="4702229"/>
            <a:ext cx="5314549" cy="4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Assim, o nosso objetivo foi...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7480" y="1485380"/>
            <a:ext cx="7620520" cy="7620520"/>
          </a:xfrm>
          <a:custGeom>
            <a:avLst/>
            <a:gdLst/>
            <a:ahLst/>
            <a:cxnLst/>
            <a:rect r="r" b="b" t="t" l="l"/>
            <a:pathLst>
              <a:path h="7620520" w="7620520">
                <a:moveTo>
                  <a:pt x="0" y="0"/>
                </a:moveTo>
                <a:lnTo>
                  <a:pt x="7620520" y="0"/>
                </a:lnTo>
                <a:lnTo>
                  <a:pt x="7620520" y="7620520"/>
                </a:lnTo>
                <a:lnTo>
                  <a:pt x="0" y="7620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133" y="2833530"/>
            <a:ext cx="9476201" cy="5572840"/>
          </a:xfrm>
          <a:custGeom>
            <a:avLst/>
            <a:gdLst/>
            <a:ahLst/>
            <a:cxnLst/>
            <a:rect r="r" b="b" t="t" l="l"/>
            <a:pathLst>
              <a:path h="5572840" w="9476201">
                <a:moveTo>
                  <a:pt x="0" y="0"/>
                </a:moveTo>
                <a:lnTo>
                  <a:pt x="9476201" y="0"/>
                </a:lnTo>
                <a:lnTo>
                  <a:pt x="9476201" y="5572840"/>
                </a:lnTo>
                <a:lnTo>
                  <a:pt x="0" y="5572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637" r="0" b="-48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3636" y="1581289"/>
            <a:ext cx="3774794" cy="96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  <a:spcBef>
                <a:spcPct val="0"/>
              </a:spcBef>
            </a:pPr>
            <a:r>
              <a:rPr lang="en-US" sz="53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82746" y="1587941"/>
            <a:ext cx="5068695" cy="95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6"/>
              </a:lnSpc>
              <a:spcBef>
                <a:spcPct val="0"/>
              </a:spcBef>
            </a:pPr>
            <a:r>
              <a:rPr lang="en-US" sz="53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2135" y="1905322"/>
            <a:ext cx="3090881" cy="106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8"/>
              </a:lnSpc>
              <a:spcBef>
                <a:spcPct val="0"/>
              </a:spcBef>
            </a:pPr>
            <a:r>
              <a:rPr lang="en-US" sz="588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87512" y="1905209"/>
            <a:ext cx="6749078" cy="106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  <a:spcBef>
                <a:spcPct val="0"/>
              </a:spcBef>
            </a:pPr>
            <a:r>
              <a:rPr lang="en-US" sz="58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geral do projeto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1666" y="3761286"/>
            <a:ext cx="2538991" cy="3631494"/>
          </a:xfrm>
          <a:custGeom>
            <a:avLst/>
            <a:gdLst/>
            <a:ahLst/>
            <a:cxnLst/>
            <a:rect r="r" b="b" t="t" l="l"/>
            <a:pathLst>
              <a:path h="3631494" w="2538991">
                <a:moveTo>
                  <a:pt x="0" y="0"/>
                </a:moveTo>
                <a:lnTo>
                  <a:pt x="2538991" y="0"/>
                </a:lnTo>
                <a:lnTo>
                  <a:pt x="2538991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02" t="-27847" r="-567055" b="-294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04860" y="3761286"/>
            <a:ext cx="2538991" cy="3631494"/>
          </a:xfrm>
          <a:custGeom>
            <a:avLst/>
            <a:gdLst/>
            <a:ahLst/>
            <a:cxnLst/>
            <a:rect r="r" b="b" t="t" l="l"/>
            <a:pathLst>
              <a:path h="3631494" w="2538991">
                <a:moveTo>
                  <a:pt x="0" y="0"/>
                </a:moveTo>
                <a:lnTo>
                  <a:pt x="2538990" y="0"/>
                </a:lnTo>
                <a:lnTo>
                  <a:pt x="2538990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584" t="-27847" r="-474373" b="-2941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87512" y="3761286"/>
            <a:ext cx="2558926" cy="3631494"/>
          </a:xfrm>
          <a:custGeom>
            <a:avLst/>
            <a:gdLst/>
            <a:ahLst/>
            <a:cxnLst/>
            <a:rect r="r" b="b" t="t" l="l"/>
            <a:pathLst>
              <a:path h="3631494" w="2558926">
                <a:moveTo>
                  <a:pt x="0" y="0"/>
                </a:moveTo>
                <a:lnTo>
                  <a:pt x="2558926" y="0"/>
                </a:lnTo>
                <a:lnTo>
                  <a:pt x="2558926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8012" t="-27847" r="-380695" b="-2941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46438" y="3761286"/>
            <a:ext cx="2403800" cy="3631494"/>
          </a:xfrm>
          <a:custGeom>
            <a:avLst/>
            <a:gdLst/>
            <a:ahLst/>
            <a:cxnLst/>
            <a:rect r="r" b="b" t="t" l="l"/>
            <a:pathLst>
              <a:path h="3631494" w="2403800">
                <a:moveTo>
                  <a:pt x="0" y="0"/>
                </a:moveTo>
                <a:lnTo>
                  <a:pt x="2403800" y="0"/>
                </a:lnTo>
                <a:lnTo>
                  <a:pt x="2403800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6598" t="-27847" r="-305263" b="-2941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50238" y="3761286"/>
            <a:ext cx="2452707" cy="3631494"/>
          </a:xfrm>
          <a:custGeom>
            <a:avLst/>
            <a:gdLst/>
            <a:ahLst/>
            <a:cxnLst/>
            <a:rect r="r" b="b" t="t" l="l"/>
            <a:pathLst>
              <a:path h="3631494" w="2452707">
                <a:moveTo>
                  <a:pt x="0" y="0"/>
                </a:moveTo>
                <a:lnTo>
                  <a:pt x="2452707" y="0"/>
                </a:lnTo>
                <a:lnTo>
                  <a:pt x="2452707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8491" t="-27847" r="-199176" b="-294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55288" y="3761286"/>
            <a:ext cx="2527853" cy="3631494"/>
          </a:xfrm>
          <a:custGeom>
            <a:avLst/>
            <a:gdLst/>
            <a:ahLst/>
            <a:cxnLst/>
            <a:rect r="r" b="b" t="t" l="l"/>
            <a:pathLst>
              <a:path h="3631494" w="2527853">
                <a:moveTo>
                  <a:pt x="0" y="0"/>
                </a:moveTo>
                <a:lnTo>
                  <a:pt x="2527852" y="0"/>
                </a:lnTo>
                <a:lnTo>
                  <a:pt x="2527852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7831" t="-27847" r="-99096" b="-2941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07995" y="3761286"/>
            <a:ext cx="2580158" cy="3631494"/>
          </a:xfrm>
          <a:custGeom>
            <a:avLst/>
            <a:gdLst/>
            <a:ahLst/>
            <a:cxnLst/>
            <a:rect r="r" b="b" t="t" l="l"/>
            <a:pathLst>
              <a:path h="3631494" w="2580158">
                <a:moveTo>
                  <a:pt x="0" y="0"/>
                </a:moveTo>
                <a:lnTo>
                  <a:pt x="2580158" y="0"/>
                </a:lnTo>
                <a:lnTo>
                  <a:pt x="2580158" y="3631494"/>
                </a:lnTo>
                <a:lnTo>
                  <a:pt x="0" y="3631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3204" t="-27847" r="0" b="-29416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5145568" y="7709159"/>
            <a:ext cx="250501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3430737" y="3166613"/>
            <a:ext cx="11553164" cy="613723"/>
            <a:chOff x="0" y="0"/>
            <a:chExt cx="15404219" cy="818298"/>
          </a:xfrm>
        </p:grpSpPr>
        <p:sp>
          <p:nvSpPr>
            <p:cNvPr name="AutoShape 14" id="14"/>
            <p:cNvSpPr/>
            <p:nvPr/>
          </p:nvSpPr>
          <p:spPr>
            <a:xfrm>
              <a:off x="0" y="792898"/>
              <a:ext cx="15404219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123203" y="-66675"/>
              <a:ext cx="4506336" cy="566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Jupyter Notebook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145568" y="7814515"/>
            <a:ext cx="2666679" cy="39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 + Docker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1327" y="3782160"/>
            <a:ext cx="7441300" cy="4210084"/>
            <a:chOff x="0" y="0"/>
            <a:chExt cx="9944100" cy="5626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4100" cy="5626100"/>
            </a:xfrm>
            <a:custGeom>
              <a:avLst/>
              <a:gdLst/>
              <a:ahLst/>
              <a:cxnLst/>
              <a:rect r="r" b="b" t="t" l="l"/>
              <a:pathLst>
                <a:path h="5626100" w="9944100">
                  <a:moveTo>
                    <a:pt x="0" y="0"/>
                  </a:moveTo>
                  <a:lnTo>
                    <a:pt x="9944100" y="0"/>
                  </a:lnTo>
                  <a:lnTo>
                    <a:pt x="9944100" y="5626100"/>
                  </a:lnTo>
                  <a:lnTo>
                    <a:pt x="0" y="5626100"/>
                  </a:lnTo>
                  <a:close/>
                </a:path>
              </a:pathLst>
            </a:custGeom>
            <a:solidFill>
              <a:srgbClr val="170350">
                <a:alpha val="0"/>
              </a:srgbClr>
            </a:solidFill>
            <a:ln w="9525" cap="sq">
              <a:solidFill>
                <a:srgbClr val="00D4FF">
                  <a:alpha val="0"/>
                </a:srgbClr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4514" y="3546080"/>
            <a:ext cx="6715980" cy="656998"/>
          </a:xfrm>
          <a:custGeom>
            <a:avLst/>
            <a:gdLst/>
            <a:ahLst/>
            <a:cxnLst/>
            <a:rect r="r" b="b" t="t" l="l"/>
            <a:pathLst>
              <a:path h="656998" w="6715980">
                <a:moveTo>
                  <a:pt x="0" y="0"/>
                </a:moveTo>
                <a:lnTo>
                  <a:pt x="6715979" y="0"/>
                </a:lnTo>
                <a:lnTo>
                  <a:pt x="6715979" y="656998"/>
                </a:lnTo>
                <a:lnTo>
                  <a:pt x="0" y="656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5997" y="5500126"/>
            <a:ext cx="6715980" cy="766014"/>
          </a:xfrm>
          <a:custGeom>
            <a:avLst/>
            <a:gdLst/>
            <a:ahLst/>
            <a:cxnLst/>
            <a:rect r="r" b="b" t="t" l="l"/>
            <a:pathLst>
              <a:path h="766014" w="6715980">
                <a:moveTo>
                  <a:pt x="0" y="0"/>
                </a:moveTo>
                <a:lnTo>
                  <a:pt x="6715980" y="0"/>
                </a:lnTo>
                <a:lnTo>
                  <a:pt x="6715980" y="766014"/>
                </a:lnTo>
                <a:lnTo>
                  <a:pt x="0" y="766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5997" y="7005151"/>
            <a:ext cx="6715980" cy="1340460"/>
          </a:xfrm>
          <a:custGeom>
            <a:avLst/>
            <a:gdLst/>
            <a:ahLst/>
            <a:cxnLst/>
            <a:rect r="r" b="b" t="t" l="l"/>
            <a:pathLst>
              <a:path h="1340460" w="6715980">
                <a:moveTo>
                  <a:pt x="0" y="0"/>
                </a:moveTo>
                <a:lnTo>
                  <a:pt x="6715980" y="0"/>
                </a:lnTo>
                <a:lnTo>
                  <a:pt x="6715980" y="1340460"/>
                </a:lnTo>
                <a:lnTo>
                  <a:pt x="0" y="1340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84514" y="2483060"/>
            <a:ext cx="5036875" cy="487208"/>
            <a:chOff x="0" y="0"/>
            <a:chExt cx="6715834" cy="649610"/>
          </a:xfrm>
        </p:grpSpPr>
        <p:sp>
          <p:nvSpPr>
            <p:cNvPr name="AutoShape 9" id="9"/>
            <p:cNvSpPr/>
            <p:nvPr/>
          </p:nvSpPr>
          <p:spPr>
            <a:xfrm>
              <a:off x="0" y="624210"/>
              <a:ext cx="6715834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6592631" cy="459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Carregamento e verificação inicial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301288" y="3182689"/>
            <a:ext cx="7413762" cy="4179508"/>
          </a:xfrm>
          <a:custGeom>
            <a:avLst/>
            <a:gdLst/>
            <a:ahLst/>
            <a:cxnLst/>
            <a:rect r="r" b="b" t="t" l="l"/>
            <a:pathLst>
              <a:path h="4179508" w="7413762">
                <a:moveTo>
                  <a:pt x="0" y="0"/>
                </a:moveTo>
                <a:lnTo>
                  <a:pt x="7413761" y="0"/>
                </a:lnTo>
                <a:lnTo>
                  <a:pt x="7413761" y="4179508"/>
                </a:lnTo>
                <a:lnTo>
                  <a:pt x="0" y="41795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151269" y="3117022"/>
            <a:ext cx="300038" cy="300038"/>
            <a:chOff x="0" y="0"/>
            <a:chExt cx="400050" cy="400050"/>
          </a:xfrm>
        </p:grpSpPr>
        <p:sp>
          <p:nvSpPr>
            <p:cNvPr name="AutoShape 13" id="13"/>
            <p:cNvSpPr/>
            <p:nvPr/>
          </p:nvSpPr>
          <p:spPr>
            <a:xfrm>
              <a:off x="19050" y="19050"/>
              <a:ext cx="381000" cy="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19050" y="19050"/>
              <a:ext cx="0" cy="38100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5" id="15"/>
          <p:cNvSpPr/>
          <p:nvPr/>
        </p:nvSpPr>
        <p:spPr>
          <a:xfrm flipH="true">
            <a:off x="17523539" y="7491768"/>
            <a:ext cx="285750" cy="0"/>
          </a:xfrm>
          <a:prstGeom prst="line">
            <a:avLst/>
          </a:prstGeom>
          <a:ln cap="rnd" w="28575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7809289" y="7191730"/>
            <a:ext cx="0" cy="285750"/>
          </a:xfrm>
          <a:prstGeom prst="line">
            <a:avLst/>
          </a:prstGeom>
          <a:ln cap="rnd" w="28575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99759" y="1681718"/>
            <a:ext cx="5721630" cy="64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0"/>
              </a:lnSpc>
              <a:spcBef>
                <a:spcPct val="0"/>
              </a:spcBef>
            </a:pPr>
            <a:r>
              <a:rPr lang="en-US" b="true" sz="36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04412" y="1681826"/>
            <a:ext cx="6192162" cy="64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sz="36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fase experimental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1679" y="7553463"/>
            <a:ext cx="7241860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Decisão: usar métricas macro, porque as classes estão desequilibradas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4514" y="2970268"/>
            <a:ext cx="1465245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</a:pPr>
            <a:r>
              <a:rPr lang="en-US" sz="27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5799" y="4317378"/>
            <a:ext cx="1672187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</a:pPr>
            <a:r>
              <a:rPr lang="en-US" sz="27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data.csv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36485" y="4388181"/>
            <a:ext cx="3402806" cy="33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9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Matriz de expressão génica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5799" y="4846840"/>
            <a:ext cx="1938745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</a:pPr>
            <a:r>
              <a:rPr lang="en-US" sz="27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labels.csv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72243" y="4928603"/>
            <a:ext cx="2122736" cy="33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9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Classes tumorais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22563" y="6479817"/>
            <a:ext cx="3402806" cy="33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9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Dimensão de dados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23966" y="8526586"/>
            <a:ext cx="2122736" cy="33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9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Valores omissos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6192" y="6409015"/>
            <a:ext cx="1153567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</a:pPr>
            <a:r>
              <a:rPr lang="en-US" sz="27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.shape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4514" y="8450386"/>
            <a:ext cx="3269903" cy="48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28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isna().sum().sum()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3484576" y="5109412"/>
            <a:ext cx="836751" cy="359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0" id="30"/>
          <p:cNvSpPr/>
          <p:nvPr/>
        </p:nvSpPr>
        <p:spPr>
          <a:xfrm>
            <a:off x="3366945" y="4591627"/>
            <a:ext cx="655618" cy="1742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1" id="31"/>
          <p:cNvSpPr/>
          <p:nvPr/>
        </p:nvSpPr>
        <p:spPr>
          <a:xfrm flipV="true">
            <a:off x="3066119" y="6704290"/>
            <a:ext cx="836751" cy="359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2" id="32"/>
          <p:cNvSpPr/>
          <p:nvPr/>
        </p:nvSpPr>
        <p:spPr>
          <a:xfrm flipV="true">
            <a:off x="4796778" y="8742422"/>
            <a:ext cx="836751" cy="359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33" id="33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6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117136" y="3391463"/>
            <a:ext cx="2280271" cy="899877"/>
            <a:chOff x="0" y="0"/>
            <a:chExt cx="1431060" cy="5647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1060" cy="564748"/>
            </a:xfrm>
            <a:custGeom>
              <a:avLst/>
              <a:gdLst/>
              <a:ahLst/>
              <a:cxnLst/>
              <a:rect r="r" b="b" t="t" l="l"/>
              <a:pathLst>
                <a:path h="564748" w="1431060">
                  <a:moveTo>
                    <a:pt x="715530" y="0"/>
                  </a:moveTo>
                  <a:cubicBezTo>
                    <a:pt x="320354" y="0"/>
                    <a:pt x="0" y="126423"/>
                    <a:pt x="0" y="282374"/>
                  </a:cubicBezTo>
                  <a:cubicBezTo>
                    <a:pt x="0" y="438325"/>
                    <a:pt x="320354" y="564748"/>
                    <a:pt x="715530" y="564748"/>
                  </a:cubicBezTo>
                  <a:cubicBezTo>
                    <a:pt x="1110706" y="564748"/>
                    <a:pt x="1431060" y="438325"/>
                    <a:pt x="1431060" y="282374"/>
                  </a:cubicBezTo>
                  <a:cubicBezTo>
                    <a:pt x="1431060" y="126423"/>
                    <a:pt x="1110706" y="0"/>
                    <a:pt x="715530" y="0"/>
                  </a:cubicBezTo>
                  <a:lnTo>
                    <a:pt x="715530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34162" y="5320"/>
              <a:ext cx="1162736" cy="50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4514" y="2660549"/>
            <a:ext cx="5036875" cy="487208"/>
            <a:chOff x="0" y="0"/>
            <a:chExt cx="6715834" cy="649610"/>
          </a:xfrm>
        </p:grpSpPr>
        <p:sp>
          <p:nvSpPr>
            <p:cNvPr name="AutoShape 4" id="4"/>
            <p:cNvSpPr/>
            <p:nvPr/>
          </p:nvSpPr>
          <p:spPr>
            <a:xfrm>
              <a:off x="0" y="624210"/>
              <a:ext cx="6715834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6592631" cy="459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Código da standardização + PCA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84514" y="3327919"/>
            <a:ext cx="5036875" cy="1208268"/>
          </a:xfrm>
          <a:custGeom>
            <a:avLst/>
            <a:gdLst/>
            <a:ahLst/>
            <a:cxnLst/>
            <a:rect r="r" b="b" t="t" l="l"/>
            <a:pathLst>
              <a:path h="1208268" w="5036875">
                <a:moveTo>
                  <a:pt x="0" y="0"/>
                </a:moveTo>
                <a:lnTo>
                  <a:pt x="5036875" y="0"/>
                </a:lnTo>
                <a:lnTo>
                  <a:pt x="5036875" y="1208267"/>
                </a:lnTo>
                <a:lnTo>
                  <a:pt x="0" y="1208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4514" y="4650307"/>
            <a:ext cx="5036875" cy="854304"/>
          </a:xfrm>
          <a:custGeom>
            <a:avLst/>
            <a:gdLst/>
            <a:ahLst/>
            <a:cxnLst/>
            <a:rect r="r" b="b" t="t" l="l"/>
            <a:pathLst>
              <a:path h="854304" w="5036875">
                <a:moveTo>
                  <a:pt x="0" y="0"/>
                </a:moveTo>
                <a:lnTo>
                  <a:pt x="5036875" y="0"/>
                </a:lnTo>
                <a:lnTo>
                  <a:pt x="5036875" y="854305"/>
                </a:lnTo>
                <a:lnTo>
                  <a:pt x="0" y="854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3494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4514" y="5685587"/>
            <a:ext cx="5036875" cy="2568806"/>
          </a:xfrm>
          <a:custGeom>
            <a:avLst/>
            <a:gdLst/>
            <a:ahLst/>
            <a:cxnLst/>
            <a:rect r="r" b="b" t="t" l="l"/>
            <a:pathLst>
              <a:path h="2568806" w="5036875">
                <a:moveTo>
                  <a:pt x="0" y="0"/>
                </a:moveTo>
                <a:lnTo>
                  <a:pt x="5036875" y="0"/>
                </a:lnTo>
                <a:lnTo>
                  <a:pt x="5036875" y="2568806"/>
                </a:lnTo>
                <a:lnTo>
                  <a:pt x="0" y="2568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45208" y="3047514"/>
            <a:ext cx="6398408" cy="4534872"/>
          </a:xfrm>
          <a:custGeom>
            <a:avLst/>
            <a:gdLst/>
            <a:ahLst/>
            <a:cxnLst/>
            <a:rect r="r" b="b" t="t" l="l"/>
            <a:pathLst>
              <a:path h="4534872" w="6398408">
                <a:moveTo>
                  <a:pt x="0" y="0"/>
                </a:moveTo>
                <a:lnTo>
                  <a:pt x="6398409" y="0"/>
                </a:lnTo>
                <a:lnTo>
                  <a:pt x="6398409" y="4534872"/>
                </a:lnTo>
                <a:lnTo>
                  <a:pt x="0" y="4534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9759" y="1681718"/>
            <a:ext cx="5721630" cy="64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0"/>
              </a:lnSpc>
              <a:spcBef>
                <a:spcPct val="0"/>
              </a:spcBef>
            </a:pPr>
            <a:r>
              <a:rPr lang="en-US" b="true" sz="36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04412" y="1681826"/>
            <a:ext cx="9672537" cy="64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sz="36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PCA inicial e pré-processamento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001000"/>
            <a:ext cx="7775503" cy="33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  <a:spcBef>
                <a:spcPct val="0"/>
              </a:spcBef>
            </a:pPr>
            <a:r>
              <a:rPr lang="en-US" sz="19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Visualização exploratória da estrutura global inicial dos dados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34462" y="2890838"/>
            <a:ext cx="6819900" cy="4848225"/>
            <a:chOff x="0" y="0"/>
            <a:chExt cx="9093200" cy="6464300"/>
          </a:xfrm>
        </p:grpSpPr>
        <p:sp>
          <p:nvSpPr>
            <p:cNvPr name="AutoShape 14" id="14"/>
            <p:cNvSpPr/>
            <p:nvPr/>
          </p:nvSpPr>
          <p:spPr>
            <a:xfrm flipV="true">
              <a:off x="9074150" y="6064250"/>
              <a:ext cx="0" cy="38100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H="true">
              <a:off x="8693150" y="6445250"/>
              <a:ext cx="381000" cy="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V="true">
              <a:off x="19050" y="6064250"/>
              <a:ext cx="0" cy="38100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19050" y="6445250"/>
              <a:ext cx="381000" cy="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9074150" y="19050"/>
              <a:ext cx="0" cy="38100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H="true">
              <a:off x="8693150" y="19050"/>
              <a:ext cx="381000" cy="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9050" y="19050"/>
              <a:ext cx="0" cy="38100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9050" y="19050"/>
              <a:ext cx="381000" cy="0"/>
            </a:xfrm>
            <a:prstGeom prst="line">
              <a:avLst/>
            </a:prstGeom>
            <a:ln cap="rnd" w="38100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4514" y="2660549"/>
            <a:ext cx="5036875" cy="487208"/>
            <a:chOff x="0" y="0"/>
            <a:chExt cx="6715834" cy="649610"/>
          </a:xfrm>
        </p:grpSpPr>
        <p:sp>
          <p:nvSpPr>
            <p:cNvPr name="AutoShape 4" id="4"/>
            <p:cNvSpPr/>
            <p:nvPr/>
          </p:nvSpPr>
          <p:spPr>
            <a:xfrm>
              <a:off x="0" y="624210"/>
              <a:ext cx="6715834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6592631" cy="459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Código da pipeline PCA + K-Means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84514" y="3338743"/>
            <a:ext cx="5693735" cy="4787914"/>
          </a:xfrm>
          <a:custGeom>
            <a:avLst/>
            <a:gdLst/>
            <a:ahLst/>
            <a:cxnLst/>
            <a:rect r="r" b="b" t="t" l="l"/>
            <a:pathLst>
              <a:path h="4787914" w="5693735">
                <a:moveTo>
                  <a:pt x="0" y="0"/>
                </a:moveTo>
                <a:lnTo>
                  <a:pt x="5693735" y="0"/>
                </a:lnTo>
                <a:lnTo>
                  <a:pt x="5693735" y="4787914"/>
                </a:lnTo>
                <a:lnTo>
                  <a:pt x="0" y="4787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5133" y="4964582"/>
            <a:ext cx="5046494" cy="2372992"/>
          </a:xfrm>
          <a:custGeom>
            <a:avLst/>
            <a:gdLst/>
            <a:ahLst/>
            <a:cxnLst/>
            <a:rect r="r" b="b" t="t" l="l"/>
            <a:pathLst>
              <a:path h="2372992" w="5046494">
                <a:moveTo>
                  <a:pt x="0" y="0"/>
                </a:moveTo>
                <a:lnTo>
                  <a:pt x="5046495" y="0"/>
                </a:lnTo>
                <a:lnTo>
                  <a:pt x="5046495" y="2372992"/>
                </a:lnTo>
                <a:lnTo>
                  <a:pt x="0" y="23729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01628" y="2949426"/>
            <a:ext cx="7060812" cy="4388149"/>
          </a:xfrm>
          <a:custGeom>
            <a:avLst/>
            <a:gdLst/>
            <a:ahLst/>
            <a:cxnLst/>
            <a:rect r="r" b="b" t="t" l="l"/>
            <a:pathLst>
              <a:path h="4388149" w="7060812">
                <a:moveTo>
                  <a:pt x="0" y="0"/>
                </a:moveTo>
                <a:lnTo>
                  <a:pt x="7060811" y="0"/>
                </a:lnTo>
                <a:lnTo>
                  <a:pt x="7060811" y="4388148"/>
                </a:lnTo>
                <a:lnTo>
                  <a:pt x="0" y="4388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672" r="0" b="-9007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577107" y="5299936"/>
            <a:ext cx="6433368" cy="899877"/>
            <a:chOff x="0" y="0"/>
            <a:chExt cx="4037475" cy="5647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37475" cy="564748"/>
            </a:xfrm>
            <a:custGeom>
              <a:avLst/>
              <a:gdLst/>
              <a:ahLst/>
              <a:cxnLst/>
              <a:rect r="r" b="b" t="t" l="l"/>
              <a:pathLst>
                <a:path h="564748" w="4037475">
                  <a:moveTo>
                    <a:pt x="2018737" y="0"/>
                  </a:moveTo>
                  <a:cubicBezTo>
                    <a:pt x="903820" y="0"/>
                    <a:pt x="0" y="126423"/>
                    <a:pt x="0" y="282374"/>
                  </a:cubicBezTo>
                  <a:cubicBezTo>
                    <a:pt x="0" y="438325"/>
                    <a:pt x="903820" y="564748"/>
                    <a:pt x="2018737" y="564748"/>
                  </a:cubicBezTo>
                  <a:cubicBezTo>
                    <a:pt x="3133655" y="564748"/>
                    <a:pt x="4037475" y="438325"/>
                    <a:pt x="4037475" y="282374"/>
                  </a:cubicBezTo>
                  <a:cubicBezTo>
                    <a:pt x="4037475" y="126423"/>
                    <a:pt x="3133655" y="0"/>
                    <a:pt x="2018737" y="0"/>
                  </a:cubicBezTo>
                  <a:lnTo>
                    <a:pt x="2018737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378513" y="5320"/>
              <a:ext cx="3280448" cy="50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619" y="171481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9434" y="1715996"/>
            <a:ext cx="12254888" cy="5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não supervisionada: PCA + K-Means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8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2949426"/>
            <a:ext cx="5071549" cy="899877"/>
            <a:chOff x="0" y="0"/>
            <a:chExt cx="3182820" cy="5647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82820" cy="564748"/>
            </a:xfrm>
            <a:custGeom>
              <a:avLst/>
              <a:gdLst/>
              <a:ahLst/>
              <a:cxnLst/>
              <a:rect r="r" b="b" t="t" l="l"/>
              <a:pathLst>
                <a:path h="564748" w="3182820">
                  <a:moveTo>
                    <a:pt x="1591410" y="0"/>
                  </a:moveTo>
                  <a:cubicBezTo>
                    <a:pt x="712499" y="0"/>
                    <a:pt x="0" y="126423"/>
                    <a:pt x="0" y="282374"/>
                  </a:cubicBezTo>
                  <a:cubicBezTo>
                    <a:pt x="0" y="438325"/>
                    <a:pt x="712499" y="564748"/>
                    <a:pt x="1591410" y="564748"/>
                  </a:cubicBezTo>
                  <a:cubicBezTo>
                    <a:pt x="2470322" y="564748"/>
                    <a:pt x="3182820" y="438325"/>
                    <a:pt x="3182820" y="282374"/>
                  </a:cubicBezTo>
                  <a:cubicBezTo>
                    <a:pt x="3182820" y="126423"/>
                    <a:pt x="2470322" y="0"/>
                    <a:pt x="1591410" y="0"/>
                  </a:cubicBezTo>
                  <a:lnTo>
                    <a:pt x="1591410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298389" y="5320"/>
              <a:ext cx="2586041" cy="50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84514" y="7509293"/>
            <a:ext cx="5071549" cy="899877"/>
            <a:chOff x="0" y="0"/>
            <a:chExt cx="3182820" cy="5647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2820" cy="564748"/>
            </a:xfrm>
            <a:custGeom>
              <a:avLst/>
              <a:gdLst/>
              <a:ahLst/>
              <a:cxnLst/>
              <a:rect r="r" b="b" t="t" l="l"/>
              <a:pathLst>
                <a:path h="564748" w="3182820">
                  <a:moveTo>
                    <a:pt x="1591410" y="0"/>
                  </a:moveTo>
                  <a:cubicBezTo>
                    <a:pt x="712499" y="0"/>
                    <a:pt x="0" y="126423"/>
                    <a:pt x="0" y="282374"/>
                  </a:cubicBezTo>
                  <a:cubicBezTo>
                    <a:pt x="0" y="438325"/>
                    <a:pt x="712499" y="564748"/>
                    <a:pt x="1591410" y="564748"/>
                  </a:cubicBezTo>
                  <a:cubicBezTo>
                    <a:pt x="2470322" y="564748"/>
                    <a:pt x="3182820" y="438325"/>
                    <a:pt x="3182820" y="282374"/>
                  </a:cubicBezTo>
                  <a:cubicBezTo>
                    <a:pt x="3182820" y="126423"/>
                    <a:pt x="2470322" y="0"/>
                    <a:pt x="1591410" y="0"/>
                  </a:cubicBezTo>
                  <a:lnTo>
                    <a:pt x="1591410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298389" y="5320"/>
              <a:ext cx="2586041" cy="50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31996" y="4554153"/>
            <a:ext cx="3268254" cy="410429"/>
            <a:chOff x="0" y="0"/>
            <a:chExt cx="3182820" cy="3997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2820" cy="399701"/>
            </a:xfrm>
            <a:custGeom>
              <a:avLst/>
              <a:gdLst/>
              <a:ahLst/>
              <a:cxnLst/>
              <a:rect r="r" b="b" t="t" l="l"/>
              <a:pathLst>
                <a:path h="399701" w="3182820">
                  <a:moveTo>
                    <a:pt x="1591410" y="0"/>
                  </a:moveTo>
                  <a:cubicBezTo>
                    <a:pt x="712499" y="0"/>
                    <a:pt x="0" y="89476"/>
                    <a:pt x="0" y="199850"/>
                  </a:cubicBezTo>
                  <a:cubicBezTo>
                    <a:pt x="0" y="310225"/>
                    <a:pt x="712499" y="399701"/>
                    <a:pt x="1591410" y="399701"/>
                  </a:cubicBezTo>
                  <a:cubicBezTo>
                    <a:pt x="2470322" y="399701"/>
                    <a:pt x="3182820" y="310225"/>
                    <a:pt x="3182820" y="199850"/>
                  </a:cubicBezTo>
                  <a:cubicBezTo>
                    <a:pt x="3182820" y="89476"/>
                    <a:pt x="2470322" y="0"/>
                    <a:pt x="1591410" y="0"/>
                  </a:cubicBezTo>
                  <a:lnTo>
                    <a:pt x="1591410" y="0"/>
                  </a:lnTo>
                  <a:close/>
                </a:path>
              </a:pathLst>
            </a:custGeom>
            <a:ln w="5715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298389" y="-10153"/>
              <a:ext cx="2586041" cy="37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5036875" cy="487208"/>
            <a:chOff x="0" y="0"/>
            <a:chExt cx="6715834" cy="649610"/>
          </a:xfrm>
        </p:grpSpPr>
        <p:sp>
          <p:nvSpPr>
            <p:cNvPr name="AutoShape 4" id="4"/>
            <p:cNvSpPr/>
            <p:nvPr/>
          </p:nvSpPr>
          <p:spPr>
            <a:xfrm>
              <a:off x="0" y="624210"/>
              <a:ext cx="6715834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6592631" cy="459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Código da pipeline PCA + K-Means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357351"/>
            <a:ext cx="5036875" cy="4548149"/>
          </a:xfrm>
          <a:custGeom>
            <a:avLst/>
            <a:gdLst/>
            <a:ahLst/>
            <a:cxnLst/>
            <a:rect r="r" b="b" t="t" l="l"/>
            <a:pathLst>
              <a:path h="4548149" w="5036875">
                <a:moveTo>
                  <a:pt x="0" y="0"/>
                </a:moveTo>
                <a:lnTo>
                  <a:pt x="5036875" y="0"/>
                </a:lnTo>
                <a:lnTo>
                  <a:pt x="5036875" y="4548149"/>
                </a:lnTo>
                <a:lnTo>
                  <a:pt x="0" y="4548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6375" y="3873319"/>
            <a:ext cx="4961147" cy="3516213"/>
          </a:xfrm>
          <a:custGeom>
            <a:avLst/>
            <a:gdLst/>
            <a:ahLst/>
            <a:cxnLst/>
            <a:rect r="r" b="b" t="t" l="l"/>
            <a:pathLst>
              <a:path h="3516213" w="4961147">
                <a:moveTo>
                  <a:pt x="0" y="0"/>
                </a:moveTo>
                <a:lnTo>
                  <a:pt x="4961148" y="0"/>
                </a:lnTo>
                <a:lnTo>
                  <a:pt x="4961148" y="3516213"/>
                </a:lnTo>
                <a:lnTo>
                  <a:pt x="0" y="3516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93741" y="3723319"/>
            <a:ext cx="5700517" cy="3816212"/>
          </a:xfrm>
          <a:custGeom>
            <a:avLst/>
            <a:gdLst/>
            <a:ahLst/>
            <a:cxnLst/>
            <a:rect r="r" b="b" t="t" l="l"/>
            <a:pathLst>
              <a:path h="3816212" w="5700517">
                <a:moveTo>
                  <a:pt x="0" y="0"/>
                </a:moveTo>
                <a:lnTo>
                  <a:pt x="5700518" y="0"/>
                </a:lnTo>
                <a:lnTo>
                  <a:pt x="5700518" y="3816213"/>
                </a:lnTo>
                <a:lnTo>
                  <a:pt x="0" y="3816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29" t="-5833" r="-1952" b="-1166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1263" y="1715996"/>
            <a:ext cx="12254888" cy="5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não supervisionada: PCA + K-Means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94259" y="4048804"/>
            <a:ext cx="5425136" cy="3856696"/>
            <a:chOff x="0" y="0"/>
            <a:chExt cx="7233515" cy="5142261"/>
          </a:xfrm>
        </p:grpSpPr>
        <p:sp>
          <p:nvSpPr>
            <p:cNvPr name="AutoShape 12" id="12"/>
            <p:cNvSpPr/>
            <p:nvPr/>
          </p:nvSpPr>
          <p:spPr>
            <a:xfrm flipV="true">
              <a:off x="7218361" y="4824027"/>
              <a:ext cx="0" cy="30308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H="true">
              <a:off x="6915280" y="5127107"/>
              <a:ext cx="303080" cy="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5154" y="4824027"/>
              <a:ext cx="0" cy="30308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15154" y="5127107"/>
              <a:ext cx="303080" cy="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7218361" y="15154"/>
              <a:ext cx="0" cy="30308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H="true">
              <a:off x="6915280" y="15154"/>
              <a:ext cx="303080" cy="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5154" y="15154"/>
              <a:ext cx="0" cy="30308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5154" y="15154"/>
              <a:ext cx="303080" cy="0"/>
            </a:xfrm>
            <a:prstGeom prst="line">
              <a:avLst/>
            </a:prstGeom>
            <a:ln cap="rnd" w="30308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6196533" cy="692150"/>
            <a:chOff x="0" y="0"/>
            <a:chExt cx="8262044" cy="922867"/>
          </a:xfrm>
        </p:grpSpPr>
        <p:sp>
          <p:nvSpPr>
            <p:cNvPr name="AutoShape 4" id="4"/>
            <p:cNvSpPr/>
            <p:nvPr/>
          </p:nvSpPr>
          <p:spPr>
            <a:xfrm>
              <a:off x="316343" y="897467"/>
              <a:ext cx="7629359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8262044" cy="92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Código da pipeline: Regressão Logística + Linear SVM + KNN com PCA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0289" y="3632520"/>
            <a:ext cx="3652494" cy="2324504"/>
          </a:xfrm>
          <a:custGeom>
            <a:avLst/>
            <a:gdLst/>
            <a:ahLst/>
            <a:cxnLst/>
            <a:rect r="r" b="b" t="t" l="l"/>
            <a:pathLst>
              <a:path h="2324504" w="3652494">
                <a:moveTo>
                  <a:pt x="0" y="0"/>
                </a:moveTo>
                <a:lnTo>
                  <a:pt x="3652494" y="0"/>
                </a:lnTo>
                <a:lnTo>
                  <a:pt x="3652494" y="2324504"/>
                </a:lnTo>
                <a:lnTo>
                  <a:pt x="0" y="232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0" r="-1476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9360" y="3632520"/>
            <a:ext cx="6796543" cy="3797568"/>
          </a:xfrm>
          <a:custGeom>
            <a:avLst/>
            <a:gdLst/>
            <a:ahLst/>
            <a:cxnLst/>
            <a:rect r="r" b="b" t="t" l="l"/>
            <a:pathLst>
              <a:path h="3797568" w="6796543">
                <a:moveTo>
                  <a:pt x="0" y="0"/>
                </a:moveTo>
                <a:lnTo>
                  <a:pt x="6796543" y="0"/>
                </a:lnTo>
                <a:lnTo>
                  <a:pt x="6796543" y="3797568"/>
                </a:lnTo>
                <a:lnTo>
                  <a:pt x="0" y="3797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09414" y="4794772"/>
            <a:ext cx="3214610" cy="2968594"/>
          </a:xfrm>
          <a:custGeom>
            <a:avLst/>
            <a:gdLst/>
            <a:ahLst/>
            <a:cxnLst/>
            <a:rect r="r" b="b" t="t" l="l"/>
            <a:pathLst>
              <a:path h="2968594" w="3214610">
                <a:moveTo>
                  <a:pt x="0" y="0"/>
                </a:moveTo>
                <a:lnTo>
                  <a:pt x="3214610" y="0"/>
                </a:lnTo>
                <a:lnTo>
                  <a:pt x="3214610" y="2968594"/>
                </a:lnTo>
                <a:lnTo>
                  <a:pt x="0" y="2968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289" y="6423749"/>
            <a:ext cx="3652494" cy="2132037"/>
          </a:xfrm>
          <a:custGeom>
            <a:avLst/>
            <a:gdLst/>
            <a:ahLst/>
            <a:cxnLst/>
            <a:rect r="r" b="b" t="t" l="l"/>
            <a:pathLst>
              <a:path h="2132037" w="3652494">
                <a:moveTo>
                  <a:pt x="0" y="0"/>
                </a:moveTo>
                <a:lnTo>
                  <a:pt x="3652494" y="0"/>
                </a:lnTo>
                <a:lnTo>
                  <a:pt x="3652494" y="2132038"/>
                </a:lnTo>
                <a:lnTo>
                  <a:pt x="0" y="2132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5055" y="1715970"/>
            <a:ext cx="12254888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Supervisionada: Comparação de 3 modelos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50047" y="3495369"/>
            <a:ext cx="6975169" cy="3994399"/>
            <a:chOff x="0" y="0"/>
            <a:chExt cx="9300225" cy="5325865"/>
          </a:xfrm>
        </p:grpSpPr>
        <p:sp>
          <p:nvSpPr>
            <p:cNvPr name="AutoShape 13" id="13"/>
            <p:cNvSpPr/>
            <p:nvPr/>
          </p:nvSpPr>
          <p:spPr>
            <a:xfrm flipV="true">
              <a:off x="9280742" y="4992929"/>
              <a:ext cx="0" cy="313452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H="true">
              <a:off x="8891067" y="5306381"/>
              <a:ext cx="389674" cy="0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V="true">
              <a:off x="19484" y="4992929"/>
              <a:ext cx="0" cy="313452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19484" y="5306381"/>
              <a:ext cx="389674" cy="0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9280742" y="19484"/>
              <a:ext cx="0" cy="313452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H="true">
              <a:off x="8891067" y="19484"/>
              <a:ext cx="389674" cy="0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9484" y="19484"/>
              <a:ext cx="0" cy="313452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9484" y="19484"/>
              <a:ext cx="389674" cy="0"/>
            </a:xfrm>
            <a:prstGeom prst="line">
              <a:avLst/>
            </a:prstGeom>
            <a:ln cap="rnd" w="38967">
              <a:solidFill>
                <a:srgbClr val="00D4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7761636" cy="692150"/>
            <a:chOff x="0" y="0"/>
            <a:chExt cx="10348848" cy="922867"/>
          </a:xfrm>
        </p:grpSpPr>
        <p:sp>
          <p:nvSpPr>
            <p:cNvPr name="AutoShape 4" id="4"/>
            <p:cNvSpPr/>
            <p:nvPr/>
          </p:nvSpPr>
          <p:spPr>
            <a:xfrm>
              <a:off x="316343" y="897467"/>
              <a:ext cx="7629359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034884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Código da pipeline: SVM Linear + Matriz de Confusão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67481" y="3472033"/>
            <a:ext cx="4211507" cy="4845430"/>
          </a:xfrm>
          <a:custGeom>
            <a:avLst/>
            <a:gdLst/>
            <a:ahLst/>
            <a:cxnLst/>
            <a:rect r="r" b="b" t="t" l="l"/>
            <a:pathLst>
              <a:path h="4845430" w="4211507">
                <a:moveTo>
                  <a:pt x="0" y="0"/>
                </a:moveTo>
                <a:lnTo>
                  <a:pt x="4211507" y="0"/>
                </a:lnTo>
                <a:lnTo>
                  <a:pt x="4211507" y="4845430"/>
                </a:lnTo>
                <a:lnTo>
                  <a:pt x="0" y="4845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64685" y="4640642"/>
            <a:ext cx="5031886" cy="2296474"/>
          </a:xfrm>
          <a:custGeom>
            <a:avLst/>
            <a:gdLst/>
            <a:ahLst/>
            <a:cxnLst/>
            <a:rect r="r" b="b" t="t" l="l"/>
            <a:pathLst>
              <a:path h="2296474" w="5031886">
                <a:moveTo>
                  <a:pt x="0" y="0"/>
                </a:moveTo>
                <a:lnTo>
                  <a:pt x="5031887" y="0"/>
                </a:lnTo>
                <a:lnTo>
                  <a:pt x="5031887" y="2296474"/>
                </a:lnTo>
                <a:lnTo>
                  <a:pt x="0" y="2296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54968" y="2241449"/>
            <a:ext cx="5855142" cy="3293517"/>
          </a:xfrm>
          <a:custGeom>
            <a:avLst/>
            <a:gdLst/>
            <a:ahLst/>
            <a:cxnLst/>
            <a:rect r="r" b="b" t="t" l="l"/>
            <a:pathLst>
              <a:path h="3293517" w="5855142">
                <a:moveTo>
                  <a:pt x="0" y="0"/>
                </a:moveTo>
                <a:lnTo>
                  <a:pt x="5855142" y="0"/>
                </a:lnTo>
                <a:lnTo>
                  <a:pt x="5855142" y="3293518"/>
                </a:lnTo>
                <a:lnTo>
                  <a:pt x="0" y="32935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6257" y="4981322"/>
            <a:ext cx="4146286" cy="3558689"/>
          </a:xfrm>
          <a:custGeom>
            <a:avLst/>
            <a:gdLst/>
            <a:ahLst/>
            <a:cxnLst/>
            <a:rect r="r" b="b" t="t" l="l"/>
            <a:pathLst>
              <a:path h="3558689" w="4146286">
                <a:moveTo>
                  <a:pt x="0" y="0"/>
                </a:moveTo>
                <a:lnTo>
                  <a:pt x="4146286" y="0"/>
                </a:lnTo>
                <a:lnTo>
                  <a:pt x="4146286" y="3558689"/>
                </a:lnTo>
                <a:lnTo>
                  <a:pt x="0" y="3558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095678" y="3888208"/>
            <a:ext cx="6573722" cy="787092"/>
            <a:chOff x="0" y="0"/>
            <a:chExt cx="4685432" cy="561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85432" cy="561001"/>
            </a:xfrm>
            <a:custGeom>
              <a:avLst/>
              <a:gdLst/>
              <a:ahLst/>
              <a:cxnLst/>
              <a:rect r="r" b="b" t="t" l="l"/>
              <a:pathLst>
                <a:path h="561001" w="4685432">
                  <a:moveTo>
                    <a:pt x="2342716" y="0"/>
                  </a:moveTo>
                  <a:cubicBezTo>
                    <a:pt x="1048870" y="0"/>
                    <a:pt x="0" y="125584"/>
                    <a:pt x="0" y="280501"/>
                  </a:cubicBezTo>
                  <a:cubicBezTo>
                    <a:pt x="0" y="435417"/>
                    <a:pt x="1048870" y="561001"/>
                    <a:pt x="2342716" y="561001"/>
                  </a:cubicBezTo>
                  <a:cubicBezTo>
                    <a:pt x="3636562" y="561001"/>
                    <a:pt x="4685432" y="435417"/>
                    <a:pt x="4685432" y="280501"/>
                  </a:cubicBezTo>
                  <a:cubicBezTo>
                    <a:pt x="4685432" y="125584"/>
                    <a:pt x="3636562" y="0"/>
                    <a:pt x="2342716" y="0"/>
                  </a:cubicBezTo>
                  <a:lnTo>
                    <a:pt x="2342716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439259" y="4969"/>
              <a:ext cx="3806913" cy="50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6826" y="1715889"/>
            <a:ext cx="12254888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Supervisionada: Escolha do SVM Linear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7761636" cy="692150"/>
            <a:chOff x="0" y="0"/>
            <a:chExt cx="10348848" cy="922867"/>
          </a:xfrm>
        </p:grpSpPr>
        <p:sp>
          <p:nvSpPr>
            <p:cNvPr name="AutoShape 4" id="4"/>
            <p:cNvSpPr/>
            <p:nvPr/>
          </p:nvSpPr>
          <p:spPr>
            <a:xfrm>
              <a:off x="316343" y="897467"/>
              <a:ext cx="8003618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034884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Código da pipeline: Cross-validation 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29795" y="2709956"/>
            <a:ext cx="4749607" cy="3466959"/>
          </a:xfrm>
          <a:custGeom>
            <a:avLst/>
            <a:gdLst/>
            <a:ahLst/>
            <a:cxnLst/>
            <a:rect r="r" b="b" t="t" l="l"/>
            <a:pathLst>
              <a:path h="3466959" w="4749607">
                <a:moveTo>
                  <a:pt x="0" y="0"/>
                </a:moveTo>
                <a:lnTo>
                  <a:pt x="4749607" y="0"/>
                </a:lnTo>
                <a:lnTo>
                  <a:pt x="4749607" y="3466959"/>
                </a:lnTo>
                <a:lnTo>
                  <a:pt x="0" y="3466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72820" y="1801614"/>
            <a:ext cx="3385094" cy="6600933"/>
          </a:xfrm>
          <a:custGeom>
            <a:avLst/>
            <a:gdLst/>
            <a:ahLst/>
            <a:cxnLst/>
            <a:rect r="r" b="b" t="t" l="l"/>
            <a:pathLst>
              <a:path h="6600933" w="3385094">
                <a:moveTo>
                  <a:pt x="0" y="0"/>
                </a:moveTo>
                <a:lnTo>
                  <a:pt x="3385094" y="0"/>
                </a:lnTo>
                <a:lnTo>
                  <a:pt x="3385094" y="6600933"/>
                </a:lnTo>
                <a:lnTo>
                  <a:pt x="0" y="6600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7890" y="3660037"/>
            <a:ext cx="7218487" cy="4060399"/>
          </a:xfrm>
          <a:custGeom>
            <a:avLst/>
            <a:gdLst/>
            <a:ahLst/>
            <a:cxnLst/>
            <a:rect r="r" b="b" t="t" l="l"/>
            <a:pathLst>
              <a:path h="4060399" w="7218487">
                <a:moveTo>
                  <a:pt x="0" y="0"/>
                </a:moveTo>
                <a:lnTo>
                  <a:pt x="7218487" y="0"/>
                </a:lnTo>
                <a:lnTo>
                  <a:pt x="7218487" y="4060399"/>
                </a:lnTo>
                <a:lnTo>
                  <a:pt x="0" y="406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0842" y="1727434"/>
            <a:ext cx="11033566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Supervisionada: Cross-validation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7761636" cy="692150"/>
            <a:chOff x="0" y="0"/>
            <a:chExt cx="10348848" cy="922867"/>
          </a:xfrm>
        </p:grpSpPr>
        <p:sp>
          <p:nvSpPr>
            <p:cNvPr name="AutoShape 4" id="4"/>
            <p:cNvSpPr/>
            <p:nvPr/>
          </p:nvSpPr>
          <p:spPr>
            <a:xfrm>
              <a:off x="316343" y="897467"/>
              <a:ext cx="926992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034884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Código da pipeline: feature selection + label-shuffling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80965" y="2578821"/>
            <a:ext cx="4418022" cy="4743690"/>
          </a:xfrm>
          <a:custGeom>
            <a:avLst/>
            <a:gdLst/>
            <a:ahLst/>
            <a:cxnLst/>
            <a:rect r="r" b="b" t="t" l="l"/>
            <a:pathLst>
              <a:path h="4743690" w="4418022">
                <a:moveTo>
                  <a:pt x="0" y="0"/>
                </a:moveTo>
                <a:lnTo>
                  <a:pt x="4418022" y="0"/>
                </a:lnTo>
                <a:lnTo>
                  <a:pt x="4418022" y="4743689"/>
                </a:lnTo>
                <a:lnTo>
                  <a:pt x="0" y="4743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5346" y="3223546"/>
            <a:ext cx="5671920" cy="3190455"/>
          </a:xfrm>
          <a:custGeom>
            <a:avLst/>
            <a:gdLst/>
            <a:ahLst/>
            <a:cxnLst/>
            <a:rect r="r" b="b" t="t" l="l"/>
            <a:pathLst>
              <a:path h="3190455" w="5671920">
                <a:moveTo>
                  <a:pt x="0" y="0"/>
                </a:moveTo>
                <a:lnTo>
                  <a:pt x="5671920" y="0"/>
                </a:lnTo>
                <a:lnTo>
                  <a:pt x="5671920" y="3190455"/>
                </a:lnTo>
                <a:lnTo>
                  <a:pt x="0" y="3190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82867" y="5787199"/>
            <a:ext cx="5458883" cy="3070622"/>
          </a:xfrm>
          <a:custGeom>
            <a:avLst/>
            <a:gdLst/>
            <a:ahLst/>
            <a:cxnLst/>
            <a:rect r="r" b="b" t="t" l="l"/>
            <a:pathLst>
              <a:path h="3070622" w="5458883">
                <a:moveTo>
                  <a:pt x="0" y="0"/>
                </a:moveTo>
                <a:lnTo>
                  <a:pt x="5458883" y="0"/>
                </a:lnTo>
                <a:lnTo>
                  <a:pt x="5458883" y="3070622"/>
                </a:lnTo>
                <a:lnTo>
                  <a:pt x="0" y="3070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98987" y="2383123"/>
            <a:ext cx="4144488" cy="6028346"/>
          </a:xfrm>
          <a:custGeom>
            <a:avLst/>
            <a:gdLst/>
            <a:ahLst/>
            <a:cxnLst/>
            <a:rect r="r" b="b" t="t" l="l"/>
            <a:pathLst>
              <a:path h="6028346" w="4144488">
                <a:moveTo>
                  <a:pt x="0" y="0"/>
                </a:moveTo>
                <a:lnTo>
                  <a:pt x="4144488" y="0"/>
                </a:lnTo>
                <a:lnTo>
                  <a:pt x="4144488" y="6028346"/>
                </a:lnTo>
                <a:lnTo>
                  <a:pt x="0" y="60283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20842" y="1727434"/>
            <a:ext cx="11033566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Supervisionada: feature selection e label-shuffling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8383" y="4181078"/>
            <a:ext cx="5568883" cy="648667"/>
            <a:chOff x="0" y="0"/>
            <a:chExt cx="4037475" cy="4702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37475" cy="470287"/>
            </a:xfrm>
            <a:custGeom>
              <a:avLst/>
              <a:gdLst/>
              <a:ahLst/>
              <a:cxnLst/>
              <a:rect r="r" b="b" t="t" l="l"/>
              <a:pathLst>
                <a:path h="470287" w="4037475">
                  <a:moveTo>
                    <a:pt x="2018737" y="0"/>
                  </a:moveTo>
                  <a:cubicBezTo>
                    <a:pt x="903820" y="0"/>
                    <a:pt x="0" y="105277"/>
                    <a:pt x="0" y="235144"/>
                  </a:cubicBezTo>
                  <a:cubicBezTo>
                    <a:pt x="0" y="365010"/>
                    <a:pt x="903820" y="470287"/>
                    <a:pt x="2018737" y="470287"/>
                  </a:cubicBezTo>
                  <a:cubicBezTo>
                    <a:pt x="3133655" y="470287"/>
                    <a:pt x="4037475" y="365010"/>
                    <a:pt x="4037475" y="235144"/>
                  </a:cubicBezTo>
                  <a:cubicBezTo>
                    <a:pt x="4037475" y="105277"/>
                    <a:pt x="3133655" y="0"/>
                    <a:pt x="2018737" y="0"/>
                  </a:cubicBezTo>
                  <a:lnTo>
                    <a:pt x="2018737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378513" y="-3536"/>
              <a:ext cx="3280448" cy="429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486598" y="7374288"/>
            <a:ext cx="1125710" cy="648667"/>
            <a:chOff x="0" y="0"/>
            <a:chExt cx="816147" cy="4702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6147" cy="470287"/>
            </a:xfrm>
            <a:custGeom>
              <a:avLst/>
              <a:gdLst/>
              <a:ahLst/>
              <a:cxnLst/>
              <a:rect r="r" b="b" t="t" l="l"/>
              <a:pathLst>
                <a:path h="470287" w="816147">
                  <a:moveTo>
                    <a:pt x="408074" y="0"/>
                  </a:moveTo>
                  <a:cubicBezTo>
                    <a:pt x="182701" y="0"/>
                    <a:pt x="0" y="105277"/>
                    <a:pt x="0" y="235144"/>
                  </a:cubicBezTo>
                  <a:cubicBezTo>
                    <a:pt x="0" y="365010"/>
                    <a:pt x="182701" y="470287"/>
                    <a:pt x="408074" y="470287"/>
                  </a:cubicBezTo>
                  <a:cubicBezTo>
                    <a:pt x="633446" y="470287"/>
                    <a:pt x="816147" y="365010"/>
                    <a:pt x="816147" y="235144"/>
                  </a:cubicBezTo>
                  <a:cubicBezTo>
                    <a:pt x="816147" y="105277"/>
                    <a:pt x="633446" y="0"/>
                    <a:pt x="408074" y="0"/>
                  </a:cubicBezTo>
                  <a:lnTo>
                    <a:pt x="408074" y="0"/>
                  </a:lnTo>
                  <a:close/>
                </a:path>
              </a:pathLst>
            </a:custGeom>
            <a:ln w="11430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514" y="-3536"/>
              <a:ext cx="663119" cy="429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58264" y="3595324"/>
            <a:ext cx="2379362" cy="277149"/>
            <a:chOff x="0" y="0"/>
            <a:chExt cx="4037475" cy="4702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37475" cy="470287"/>
            </a:xfrm>
            <a:custGeom>
              <a:avLst/>
              <a:gdLst/>
              <a:ahLst/>
              <a:cxnLst/>
              <a:rect r="r" b="b" t="t" l="l"/>
              <a:pathLst>
                <a:path h="470287" w="4037475">
                  <a:moveTo>
                    <a:pt x="2018737" y="0"/>
                  </a:moveTo>
                  <a:cubicBezTo>
                    <a:pt x="903820" y="0"/>
                    <a:pt x="0" y="105277"/>
                    <a:pt x="0" y="235144"/>
                  </a:cubicBezTo>
                  <a:cubicBezTo>
                    <a:pt x="0" y="365010"/>
                    <a:pt x="903820" y="470287"/>
                    <a:pt x="2018737" y="470287"/>
                  </a:cubicBezTo>
                  <a:cubicBezTo>
                    <a:pt x="3133655" y="470287"/>
                    <a:pt x="4037475" y="365010"/>
                    <a:pt x="4037475" y="235144"/>
                  </a:cubicBezTo>
                  <a:cubicBezTo>
                    <a:pt x="4037475" y="105277"/>
                    <a:pt x="3133655" y="0"/>
                    <a:pt x="2018737" y="0"/>
                  </a:cubicBezTo>
                  <a:lnTo>
                    <a:pt x="2018737" y="0"/>
                  </a:lnTo>
                  <a:close/>
                </a:path>
              </a:pathLst>
            </a:custGeom>
            <a:ln w="57150" cap="rnd">
              <a:solidFill>
                <a:srgbClr val="FFD4A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378513" y="-3536"/>
              <a:ext cx="3280448" cy="429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7761636" cy="692150"/>
            <a:chOff x="0" y="0"/>
            <a:chExt cx="10348848" cy="922867"/>
          </a:xfrm>
        </p:grpSpPr>
        <p:sp>
          <p:nvSpPr>
            <p:cNvPr name="AutoShape 4" id="4"/>
            <p:cNvSpPr/>
            <p:nvPr/>
          </p:nvSpPr>
          <p:spPr>
            <a:xfrm>
              <a:off x="316343" y="897467"/>
              <a:ext cx="926992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034884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Código da pipeline: Complexidade + Reprodutibilidade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7574" y="3402106"/>
            <a:ext cx="4026097" cy="3019572"/>
          </a:xfrm>
          <a:custGeom>
            <a:avLst/>
            <a:gdLst/>
            <a:ahLst/>
            <a:cxnLst/>
            <a:rect r="r" b="b" t="t" l="l"/>
            <a:pathLst>
              <a:path h="3019572" w="4026097">
                <a:moveTo>
                  <a:pt x="0" y="0"/>
                </a:moveTo>
                <a:lnTo>
                  <a:pt x="4026096" y="0"/>
                </a:lnTo>
                <a:lnTo>
                  <a:pt x="4026096" y="3019572"/>
                </a:lnTo>
                <a:lnTo>
                  <a:pt x="0" y="301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4591" y="6421678"/>
            <a:ext cx="4152062" cy="1757895"/>
          </a:xfrm>
          <a:custGeom>
            <a:avLst/>
            <a:gdLst/>
            <a:ahLst/>
            <a:cxnLst/>
            <a:rect r="r" b="b" t="t" l="l"/>
            <a:pathLst>
              <a:path h="1757895" w="4152062">
                <a:moveTo>
                  <a:pt x="0" y="0"/>
                </a:moveTo>
                <a:lnTo>
                  <a:pt x="4152062" y="0"/>
                </a:lnTo>
                <a:lnTo>
                  <a:pt x="4152062" y="1757896"/>
                </a:lnTo>
                <a:lnTo>
                  <a:pt x="0" y="1757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231" t="0" r="-28605" b="-15310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13561" y="5275912"/>
            <a:ext cx="3887347" cy="2689619"/>
          </a:xfrm>
          <a:custGeom>
            <a:avLst/>
            <a:gdLst/>
            <a:ahLst/>
            <a:cxnLst/>
            <a:rect r="r" b="b" t="t" l="l"/>
            <a:pathLst>
              <a:path h="2689619" w="3887347">
                <a:moveTo>
                  <a:pt x="0" y="0"/>
                </a:moveTo>
                <a:lnTo>
                  <a:pt x="3887347" y="0"/>
                </a:lnTo>
                <a:lnTo>
                  <a:pt x="3887347" y="2689619"/>
                </a:lnTo>
                <a:lnTo>
                  <a:pt x="0" y="2689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697" t="-10000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24134" y="3603089"/>
            <a:ext cx="3466201" cy="2023637"/>
          </a:xfrm>
          <a:custGeom>
            <a:avLst/>
            <a:gdLst/>
            <a:ahLst/>
            <a:cxnLst/>
            <a:rect r="r" b="b" t="t" l="l"/>
            <a:pathLst>
              <a:path h="2023637" w="3466201">
                <a:moveTo>
                  <a:pt x="0" y="0"/>
                </a:moveTo>
                <a:lnTo>
                  <a:pt x="3466202" y="0"/>
                </a:lnTo>
                <a:lnTo>
                  <a:pt x="3466202" y="2023637"/>
                </a:lnTo>
                <a:lnTo>
                  <a:pt x="0" y="2023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9863" r="-9266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34258" y="2587399"/>
            <a:ext cx="5405640" cy="5712698"/>
          </a:xfrm>
          <a:custGeom>
            <a:avLst/>
            <a:gdLst/>
            <a:ahLst/>
            <a:cxnLst/>
            <a:rect r="r" b="b" t="t" l="l"/>
            <a:pathLst>
              <a:path h="5712698" w="5405640">
                <a:moveTo>
                  <a:pt x="0" y="0"/>
                </a:moveTo>
                <a:lnTo>
                  <a:pt x="5405641" y="0"/>
                </a:lnTo>
                <a:lnTo>
                  <a:pt x="5405641" y="5712698"/>
                </a:lnTo>
                <a:lnTo>
                  <a:pt x="0" y="57126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37078" y="2434126"/>
            <a:ext cx="3885486" cy="501132"/>
          </a:xfrm>
          <a:custGeom>
            <a:avLst/>
            <a:gdLst/>
            <a:ahLst/>
            <a:cxnLst/>
            <a:rect r="r" b="b" t="t" l="l"/>
            <a:pathLst>
              <a:path h="501132" w="3885486">
                <a:moveTo>
                  <a:pt x="0" y="0"/>
                </a:moveTo>
                <a:lnTo>
                  <a:pt x="3885487" y="0"/>
                </a:lnTo>
                <a:lnTo>
                  <a:pt x="3885487" y="501131"/>
                </a:lnTo>
                <a:lnTo>
                  <a:pt x="0" y="5011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37078" y="2935257"/>
            <a:ext cx="3885486" cy="4681309"/>
          </a:xfrm>
          <a:custGeom>
            <a:avLst/>
            <a:gdLst/>
            <a:ahLst/>
            <a:cxnLst/>
            <a:rect r="r" b="b" t="t" l="l"/>
            <a:pathLst>
              <a:path h="4681309" w="3885486">
                <a:moveTo>
                  <a:pt x="0" y="0"/>
                </a:moveTo>
                <a:lnTo>
                  <a:pt x="3885487" y="0"/>
                </a:lnTo>
                <a:lnTo>
                  <a:pt x="3885487" y="4681309"/>
                </a:lnTo>
                <a:lnTo>
                  <a:pt x="0" y="468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0842" y="1727434"/>
            <a:ext cx="11738458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Supervisionada: Complexidade e Reprodutibilidade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09956"/>
            <a:ext cx="7761636" cy="1044575"/>
            <a:chOff x="0" y="0"/>
            <a:chExt cx="10348848" cy="1392767"/>
          </a:xfrm>
        </p:grpSpPr>
        <p:sp>
          <p:nvSpPr>
            <p:cNvPr name="AutoShape 4" id="4"/>
            <p:cNvSpPr/>
            <p:nvPr/>
          </p:nvSpPr>
          <p:spPr>
            <a:xfrm>
              <a:off x="316343" y="1367367"/>
              <a:ext cx="926992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0348848" cy="92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AutoNum type="arabicPeriod" startAt="1"/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Código da pipeline: Predict sample + run pipeline +  Docker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65361" y="3889566"/>
            <a:ext cx="4775885" cy="970909"/>
          </a:xfrm>
          <a:custGeom>
            <a:avLst/>
            <a:gdLst/>
            <a:ahLst/>
            <a:cxnLst/>
            <a:rect r="r" b="b" t="t" l="l"/>
            <a:pathLst>
              <a:path h="970909" w="4775885">
                <a:moveTo>
                  <a:pt x="0" y="0"/>
                </a:moveTo>
                <a:lnTo>
                  <a:pt x="4775885" y="0"/>
                </a:lnTo>
                <a:lnTo>
                  <a:pt x="4775885" y="970909"/>
                </a:lnTo>
                <a:lnTo>
                  <a:pt x="0" y="970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2" t="0" r="-68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6258" y="5143500"/>
            <a:ext cx="4804988" cy="3223222"/>
          </a:xfrm>
          <a:custGeom>
            <a:avLst/>
            <a:gdLst/>
            <a:ahLst/>
            <a:cxnLst/>
            <a:rect r="r" b="b" t="t" l="l"/>
            <a:pathLst>
              <a:path h="3223222" w="4804988">
                <a:moveTo>
                  <a:pt x="0" y="0"/>
                </a:moveTo>
                <a:lnTo>
                  <a:pt x="4804988" y="0"/>
                </a:lnTo>
                <a:lnTo>
                  <a:pt x="4804988" y="3223222"/>
                </a:lnTo>
                <a:lnTo>
                  <a:pt x="0" y="3223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24746" y="4375020"/>
            <a:ext cx="10171456" cy="3216723"/>
          </a:xfrm>
          <a:custGeom>
            <a:avLst/>
            <a:gdLst/>
            <a:ahLst/>
            <a:cxnLst/>
            <a:rect r="r" b="b" t="t" l="l"/>
            <a:pathLst>
              <a:path h="3216723" w="10171456">
                <a:moveTo>
                  <a:pt x="0" y="0"/>
                </a:moveTo>
                <a:lnTo>
                  <a:pt x="10171457" y="0"/>
                </a:lnTo>
                <a:lnTo>
                  <a:pt x="10171457" y="3216723"/>
                </a:lnTo>
                <a:lnTo>
                  <a:pt x="0" y="32167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89552" y="1715889"/>
            <a:ext cx="5721630" cy="52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293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41246" y="1716050"/>
            <a:ext cx="11738458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Passagem para scripts Python Docker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8635" y="289348"/>
            <a:ext cx="19465270" cy="9708303"/>
          </a:xfrm>
          <a:custGeom>
            <a:avLst/>
            <a:gdLst/>
            <a:ahLst/>
            <a:cxnLst/>
            <a:rect r="r" b="b" t="t" l="l"/>
            <a:pathLst>
              <a:path h="9708303" w="19465270">
                <a:moveTo>
                  <a:pt x="0" y="0"/>
                </a:moveTo>
                <a:lnTo>
                  <a:pt x="19465270" y="0"/>
                </a:lnTo>
                <a:lnTo>
                  <a:pt x="19465270" y="9708304"/>
                </a:lnTo>
                <a:lnTo>
                  <a:pt x="0" y="970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40890" y="5369126"/>
            <a:ext cx="696340" cy="697212"/>
          </a:xfrm>
          <a:custGeom>
            <a:avLst/>
            <a:gdLst/>
            <a:ahLst/>
            <a:cxnLst/>
            <a:rect r="r" b="b" t="t" l="l"/>
            <a:pathLst>
              <a:path h="697212" w="696340">
                <a:moveTo>
                  <a:pt x="0" y="0"/>
                </a:moveTo>
                <a:lnTo>
                  <a:pt x="696340" y="0"/>
                </a:lnTo>
                <a:lnTo>
                  <a:pt x="696340" y="697212"/>
                </a:lnTo>
                <a:lnTo>
                  <a:pt x="0" y="697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40890" y="2124947"/>
            <a:ext cx="4580351" cy="116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8"/>
              </a:lnSpc>
              <a:spcBef>
                <a:spcPct val="0"/>
              </a:spcBef>
            </a:pPr>
            <a:r>
              <a:rPr lang="en-US" sz="648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028700" y="547159"/>
            <a:ext cx="8818085" cy="8818085"/>
          </a:xfrm>
          <a:custGeom>
            <a:avLst/>
            <a:gdLst/>
            <a:ahLst/>
            <a:cxnLst/>
            <a:rect r="r" b="b" t="t" l="l"/>
            <a:pathLst>
              <a:path h="8818085" w="8818085">
                <a:moveTo>
                  <a:pt x="8818085" y="0"/>
                </a:moveTo>
                <a:lnTo>
                  <a:pt x="0" y="0"/>
                </a:lnTo>
                <a:lnTo>
                  <a:pt x="0" y="8818085"/>
                </a:lnTo>
                <a:lnTo>
                  <a:pt x="8818085" y="8818085"/>
                </a:lnTo>
                <a:lnTo>
                  <a:pt x="881808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69067" y="5311976"/>
            <a:ext cx="6025185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Perfis RNA-Seq contêm estrutura associada ao tipo tumoral. 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análise não supervisionada com PCA + K-Means mostrou boa concordância entre clusters e classes reais, especialmente para KIRC, COAD e PRAD. BRCA e LUAD apresentaram maior sobreposição.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9067" y="4702229"/>
            <a:ext cx="5314549" cy="44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Assim, a nossa conclusão foi...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45145" y="9080393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0350">
                <a:alpha val="100000"/>
              </a:srgbClr>
            </a:gs>
            <a:gs pos="100000">
              <a:srgbClr val="477F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908" y="823990"/>
            <a:ext cx="17321343" cy="8639020"/>
          </a:xfrm>
          <a:custGeom>
            <a:avLst/>
            <a:gdLst/>
            <a:ahLst/>
            <a:cxnLst/>
            <a:rect r="r" b="b" t="t" l="l"/>
            <a:pathLst>
              <a:path h="8639020" w="17321343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17806" y="2561079"/>
            <a:ext cx="10712157" cy="337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23"/>
              </a:lnSpc>
              <a:spcBef>
                <a:spcPct val="0"/>
              </a:spcBef>
            </a:pPr>
            <a:r>
              <a:rPr lang="en-US" b="true" sz="94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 pela atenção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7664" y="4403269"/>
            <a:ext cx="69524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729662" y="9526270"/>
            <a:ext cx="10772326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 Silva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Andreia Vieira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Beatriz Magalhães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Mariana Barbosa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Salvador Mota</a:t>
            </a: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spc="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Escola Superior de Saúde do Instituto Politécnico do Porto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29963" y="9703435"/>
            <a:ext cx="10772326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Ano Letivo 2025/2026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35696" y="8824145"/>
            <a:ext cx="828817" cy="3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DAHMGAY_qjI</dc:identifier>
  <dcterms:modified xsi:type="dcterms:W3CDTF">2011-08-01T06:04:30Z</dcterms:modified>
  <cp:revision>1</cp:revision>
  <dc:title>OncoExprML</dc:title>
</cp:coreProperties>
</file>